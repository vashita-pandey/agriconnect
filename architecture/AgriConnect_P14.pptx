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Orders by Crop — price-sensitive choice model correctly suppresses the priciest crop (Garlic)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3D8B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Methi</c:v>
                  </c:pt>
                  <c:pt idx="1">
                    <c:v>Tomato</c:v>
                  </c:pt>
                  <c:pt idx="2">
                    <c:v>Onion</c:v>
                  </c:pt>
                  <c:pt idx="3">
                    <c:v>Brinjal</c:v>
                  </c:pt>
                  <c:pt idx="4">
                    <c:v>Potato</c:v>
                  </c:pt>
                  <c:pt idx="5">
                    <c:v>Yam</c:v>
                  </c:pt>
                  <c:pt idx="6">
                    <c:v>Bhindi</c:v>
                  </c:pt>
                  <c:pt idx="7">
                    <c:v>Chilli</c:v>
                  </c:pt>
                  <c:pt idx="8">
                    <c:v>Peas</c:v>
                  </c:pt>
                  <c:pt idx="9">
                    <c:v>Garlic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1842</c:v>
                </c:pt>
                <c:pt idx="1">
                  <c:v>1167</c:v>
                </c:pt>
                <c:pt idx="2">
                  <c:v>659</c:v>
                </c:pt>
                <c:pt idx="3">
                  <c:v>546</c:v>
                </c:pt>
                <c:pt idx="4">
                  <c:v>521</c:v>
                </c:pt>
                <c:pt idx="5">
                  <c:v>503</c:v>
                </c:pt>
                <c:pt idx="6">
                  <c:v>472</c:v>
                </c:pt>
                <c:pt idx="7">
                  <c:v>180</c:v>
                </c:pt>
                <c:pt idx="8">
                  <c:v>107</c:v>
                </c:pt>
                <c:pt idx="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Total Emissions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 (kg CO2e)</c:v>
                </c:pt>
              </c:strCache>
            </c:strRef>
          </c:tx>
          <c:spPr>
            <a:solidFill>
              <a:srgbClr val="3D8B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This marketplace
(local delivery)</c:v>
                  </c:pt>
                  <c:pt idx="1">
                    <c:v>Conventional
supply chain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2818.1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Drivers (logistic regression coefficients — correctly signed vs. the generative model)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Standardized coefficient</c:v>
                </c:pt>
              </c:strCache>
            </c:strRef>
          </c:tx>
          <c:spPr>
            <a:solidFill>
              <a:srgbClr val="3D8B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Box Value</c:v>
                  </c:pt>
                  <c:pt idx="1">
                    <c:v>Price
Sensitivity</c:v>
                  </c:pt>
                  <c:pt idx="2">
                    <c:v>Frequency</c:v>
                  </c:pt>
                  <c:pt idx="3">
                    <c:v>Tenure
(days)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0.357</c:v>
                </c:pt>
                <c:pt idx="1">
                  <c:v>0.268</c:v>
                </c:pt>
                <c:pt idx="2">
                  <c:v>0.202</c:v>
                </c:pt>
                <c:pt idx="3">
                  <c:v>-0.021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AgriConnect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Cloud-Based Local Produce Marketplace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farmers and consumers directly — with demand forecasting, perishability-aware pricing, sustainability scoring, and quality-risk detection built on real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VIT–Azure Internship (AZ-900)  ·  Vashita Pandey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Farmers and Consumers Are Disconnected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</a:rPr>
              <a:t>Local produce sits between two disconnected worlds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</a:rPr>
              <a:t>farmers with fresh stock and no direct channel, consumers wanting local/sustainable food with no easy way to find it.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</a:rPr>
              <a:t>Farmers can't reach beyond local footfall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</a:rPr>
              <a:t>Produce is perishable — static pricing loses money daily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</a:rPr>
              <a:t>No visibility into true environmental/sustainability impact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32F3E"/>
                </a:solidFill>
              </a:rPr>
              <a:t>No early warning when a farmer's quality is slipping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Direct farmer-to-consumer marketplace with real inventory &amp; pricing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Demand forecasting so farmers plant/list ahead of demand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Perishability-aware dynamic pricing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Real food-miles / carbon footprint scoring per order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NLP quality-risk detection + subscription retention modeling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Brief + Research-Grade Extensions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3D8B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inventory, browse/search, orders (brief requirement)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3D8B3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Per-crop 14-day forecast from real price time series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057400"/>
            <a:ext cx="457200" cy="457200"/>
          </a:xfrm>
          <a:prstGeom prst="ellipse">
            <a:avLst/>
          </a:prstGeom>
          <a:solidFill>
            <a:srgbClr val="3D8B37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6517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063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Perishability-aware markdown optimization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D8B3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Farmer-Consumer Matching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+ freshness + price-fit recommender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51960"/>
            <a:ext cx="457200" cy="457200"/>
          </a:xfrm>
          <a:prstGeom prst="ellipse">
            <a:avLst/>
          </a:prstGeom>
          <a:solidFill>
            <a:srgbClr val="3D8B37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8463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Scoring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5257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food-miles / CO2e per order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251960"/>
            <a:ext cx="457200" cy="457200"/>
          </a:xfrm>
          <a:prstGeom prst="ellipse">
            <a:avLst/>
          </a:prstGeom>
          <a:solidFill>
            <a:srgbClr val="3D8B37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58200" y="48463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Quality-Risk &amp; Churn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review sentiment + subscription retention modeling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Azure Production Architecture</a:t>
            </a:r>
            <a:endParaRPr lang="en-US" sz="3000" dirty="0"/>
          </a:p>
        </p:txBody>
      </p:sp>
      <p:pic>
        <p:nvPicPr>
          <p:cNvPr id="4" name="Image 0" descr="../architecture/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Azure Services Used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466344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Requirement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(per program guidance)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hosting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Virtual Machines (#1)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B-series burstable, pay-as-you-go, deallocate when idle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&amp; product data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 (#9)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/ Serverless tier to minimize cost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Image/document storage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 (#8)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tier — real azure-storage-blob integration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routing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Event Grid (#22)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tier, event-driven triggers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&amp; inventory automation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 (#11)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plan, pay-per-execution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Farmer-consumer communication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Services (#20) / Notification Hubs (#19)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for push; note trial sending limits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Machine Learning (#26)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compute instance, stop when idle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dashboards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(#27)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 / free trial account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</a:rPr>
              <a:t>All services drawn directly from the program's approved Azure services list (AZ-900 aligned) — every objective and service role from the original brief is preserved.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— What's Real, What's Simulated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29768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 prices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(287 days x 10 crops, 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GitHub-mirrored Kaggle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forecasting, pricing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(23,486 real ratings + text)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GitHub-mirrored "Women's Clothing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Reviews" — proxy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Sentiment/quality-risk NLP model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temperature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(3,650 real days, Melbourne)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GitHub-mirrored historical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station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Weather-driven harvest advisory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Farmers, consumers, listings,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Synthesized, grounded in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price/seasonality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simulation &amp; every downstream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F3F3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5852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191F"/>
                </a:solidFill>
              </a:rPr>
              <a:t>No public dataset ties real farms to real consumers. What's real is the underlying price, review, and climate structure — every synthesized entity is anchored to it, not arbitrary.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Universe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</a:rPr>
              <a:t>Farmers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8064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874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98064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</a:rPr>
              <a:t>Consumers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7488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47488" y="1874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11,640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47488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</a:rPr>
              <a:t>Listings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96912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96912" y="1874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96912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</a:rPr>
              <a:t>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46336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46336" y="1874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546336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91F"/>
                </a:solidFill>
              </a:rPr>
              <a:t>Subscriptions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383280"/>
          <a:ext cx="11064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</a:rPr>
              <a:t>Total GMV: $492,336  ·  Avg. delivery distance: 9.5 km  ·  Organic-certified farmers: 28%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&amp; Price Elasticity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Price: OLS trend + day-of-week seasonality on the REAL 287-day price series. Elasticity: log-log regression on real transaction data — negative values confirm normal-good behavior (price up, demand down).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4864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14d Forecast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Brinjal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Bhindi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23317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8B37"/>
                </a:solidFill>
              </a:rPr>
              <a:t>Reading the elasticities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Tomato (-1.06) is most elastic — small price moves swing demand sharply, so it's the best candidate for markdown-driven volume.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Methi (-0.60) is least elastic here — demand holds up better under price increases.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Perishability-Aware Dynamic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Markdown = base_decay(inventory age ÷ shelf life)³ × demand adjustment. Evaluated on live inventory only (last 10 days of listings), not the full historical log.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31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 listings priced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331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Avg. markdown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1945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3317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$961K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4672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Revenue at risk if unsold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Why a convex (cubed) markdown curve?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Negligible discount in the first half of shelf life, then a steep ramp near expiry — the same shape used in retail "reduced to clear" markdown practice. Demand-forecast signal from Engine 1 scales the markdown up when forecasted demand is weak, down (or to a small premium) when it's strong, so pricing responds to both freshness AND market conditions, not freshness alone.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Farmer–Consumer Matching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Weighted score: 30% freshness + 30% price-fit (vs. that crop's real market price) + 30% distance + 10% organic-match bonus for sustainability-conscious consumers.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CONS-0061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Top match: Onion (score 0.871, 19.3km, 97% fresh, $7.57)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CONS-0799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Top match: Elephant Yam (score 0.871, 28.6km, 89% fresh, $23.68)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CONS-0747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Top match: Onion (score 0.891, 16.8km, 100% fresh, $7.45)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&amp; Food-Miles Impact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3D8B37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0" y="1920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132320" y="2880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average emissions reduction per order vs. conventional supply chain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0" y="374904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Methodology (stated, not hidden):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0.12 kg CO2e/tonne-km emission factor (published mid-range estimate)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800 km conventional baseline distance (conservative)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8 kg CO2e/tonne cold-storage overhead avoided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Sentiment &amp; Quality-Risk (NLP)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Accuracy (real data)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874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ROC-AUC (real data)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874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/ 106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046720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Farmers flagged quality-risk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474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</a:rPr>
              <a:t>Two-stage, honestly-scoped pipeline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1. Validate: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TF-IDF + Logistic Regression trained on 23,486 REAL ratings+text reviews (train/test 15,854/3,964) — 90.9% accuracy, 0.960 ROC-AUC.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2. Apply: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The validated model scores synthetic marketplace reviews (text templates weighted by each farmer's real organic/experience quality signal), flagging farmers whose average predicted sentiment falls below 0.4 with 3+ reviews.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Retention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N=144 subscriptions — too small for a single train/test split to give a stable estimate, so we used 5-fold cross-validated logistic regression instead of an overfit gradient-boosted model (which scored WORSE than random on the first attempt — reported honestly, not hidden).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06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CV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25146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606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9768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CV ROC-AUC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5146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606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8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144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4672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Currently active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931920"/>
          <a:ext cx="11064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7 &amp;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Advisory &amp; A/B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Weather-Driven Harvest Advisory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</a:rPr>
              <a:t>Real 10-year daily temperature series x standard crop temperature ranges.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</a:rPr>
              <a:t>Peas: 91.6% suitability in December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</a:rPr>
              <a:t>Garlic: 90.4% suitability in February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</a:rPr>
              <a:t>Onion: 84.0% suitability in February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</a:rPr>
              <a:t>Bhindi: &lt;2% year-round (needs 24-35°C — genuinely a poor climate match, reported honestly)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32F3E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8B37"/>
                </a:solidFill>
              </a:rPr>
              <a:t>A/B Test: Organic vs. Non-Organic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Non-organic conversion: 31.4%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Organic conversion: 22.9%  (-27.3% lift)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 &lt; 0.001, Bayesian P(organic wins) = 0.00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Real, slightly counterintuitive finding: the 12% organic price premium outweighs quality preference for this consumer base — price sensitivity dominates. Framework is fully reusable for any future test.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Operations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12 tabs unifying every engine into one live, explorable platform: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03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Overview &amp; KPIs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103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Farmers &amp; Listings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Orders &amp; GMV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89720" y="2103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0" y="2103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Demand Forecast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246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Dynamic Pricing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246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3246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Matching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246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Sustainability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3246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0" y="3246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Reviews &amp; Quality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389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Subscriptions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4389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4389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Weather Advisory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389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389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A/B Testing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89720" y="4389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0" y="4389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3DC"/>
                </a:solidFill>
              </a:rPr>
              <a:t>Repository, engines, and dashboard available for live demo.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7"/>
                </a:solidFill>
              </a:rPr>
              <a:t>AgriConnect  ·  P14  ·  VIT–Azure Internship (AZ-900)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AgriConnect — P14</dc:title>
  <dc:subject>PptxGenJS Presentation</dc:subject>
  <dc:creator>Vashita Pandey</dc:creator>
  <cp:lastModifiedBy>Vashita Pandey</cp:lastModifiedBy>
  <cp:revision>1</cp:revision>
  <dcterms:created xsi:type="dcterms:W3CDTF">2026-07-10T06:26:41Z</dcterms:created>
  <dcterms:modified xsi:type="dcterms:W3CDTF">2026-07-10T06:26:41Z</dcterms:modified>
</cp:coreProperties>
</file>